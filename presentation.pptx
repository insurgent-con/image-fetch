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BFDED91-99B6-4BB5-9335-9D1D2E04B0C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1143000" y="685800"/>
            <a:ext cx="4571640" cy="3428640"/>
          </a:xfrm>
          <a:prstGeom prst="rect">
            <a:avLst/>
          </a:prstGeom>
          <a:ln w="0">
            <a:noFill/>
          </a:ln>
        </p:spPr>
      </p:sp>
      <p:sp>
        <p:nvSpPr>
          <p:cNvPr id="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yourself and the project in about 20 seconds. Say what the tool does in one sentence, then move straight into the live demo.</a:t>
            </a:r>
            <a:endParaRPr lang="en-US" sz="2000" b="0" u="none" strike="noStrike">
              <a:solidFill>
                <a:srgbClr val="000000"/>
              </a:solidFill>
              <a:effectLst/>
              <a:uFillTx/>
              <a:latin typeface="Arial"/>
            </a:endParaRPr>
          </a:p>
        </p:txBody>
      </p:sp>
      <p:sp>
        <p:nvSpPr>
          <p:cNvPr id="93"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BE920C-CA06-46C5-BB44-8CDAC9C9F4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1143000" y="685800"/>
            <a:ext cx="4571640" cy="3428640"/>
          </a:xfrm>
          <a:prstGeom prst="rect">
            <a:avLst/>
          </a:prstGeom>
          <a:ln w="0">
            <a:noFill/>
          </a:ln>
        </p:spPr>
      </p:sp>
      <p:sp>
        <p:nvSpPr>
          <p:cNvPr id="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the commands in order. Narrate what each one does and point at the console output. After the last command, open the output folder so the crops are visible on screen.</a:t>
            </a:r>
            <a:endParaRPr lang="en-US" sz="2000" b="0" u="none" strike="noStrike">
              <a:solidFill>
                <a:srgbClr val="000000"/>
              </a:solidFill>
              <a:effectLst/>
              <a:uFillTx/>
              <a:latin typeface="Arial"/>
            </a:endParaRPr>
          </a:p>
        </p:txBody>
      </p:sp>
      <p:sp>
        <p:nvSpPr>
          <p:cNvPr id="96"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47EC7D6-61DC-43A7-85BD-85D4AA198D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1143000" y="685800"/>
            <a:ext cx="4571640" cy="3428640"/>
          </a:xfrm>
          <a:prstGeom prst="rect">
            <a:avLst/>
          </a:prstGeom>
          <a:ln w="0">
            <a:noFill/>
          </a:ln>
        </p:spPr>
      </p:sp>
      <p:sp>
        <p:nvSpPr>
          <p:cNvPr id="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Pick two concrete wins. Both of these are design decisions, not accidents, so explain the reasoning rather than just restating the slide.</a:t>
            </a:r>
            <a:endParaRPr lang="en-US" sz="2000" b="0" u="none" strike="noStrike">
              <a:solidFill>
                <a:srgbClr val="000000"/>
              </a:solidFill>
              <a:effectLst/>
              <a:uFillTx/>
              <a:latin typeface="Arial"/>
            </a:endParaRPr>
          </a:p>
        </p:txBody>
      </p:sp>
      <p:sp>
        <p:nvSpPr>
          <p:cNvPr id="99"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AEFD998-74A8-43EE-8340-A2204349379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1143000" y="685800"/>
            <a:ext cx="4571640" cy="3428640"/>
          </a:xfrm>
          <a:prstGeom prst="rect">
            <a:avLst/>
          </a:prstGeom>
          <a:ln w="0">
            <a:noFill/>
          </a:ln>
        </p:spPr>
      </p:sp>
      <p:sp>
        <p:nvSpPr>
          <p:cNvPr id="1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 specific and honest. These are process and design shortcomings, not coding errors, so frame them as things you would approach differently next time.</a:t>
            </a:r>
            <a:endParaRPr lang="en-US" sz="2000" b="0" u="none" strike="noStrike">
              <a:solidFill>
                <a:srgbClr val="000000"/>
              </a:solidFill>
              <a:effectLst/>
              <a:uFillTx/>
              <a:latin typeface="Arial"/>
            </a:endParaRPr>
          </a:p>
        </p:txBody>
      </p:sp>
      <p:sp>
        <p:nvSpPr>
          <p:cNvPr id="102"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9AA61E-F501-4C15-A35E-4BFB95D6C11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1143000" y="685800"/>
            <a:ext cx="4571640" cy="3428640"/>
          </a:xfrm>
          <a:prstGeom prst="rect">
            <a:avLst/>
          </a:prstGeom>
          <a:ln w="0">
            <a:noFill/>
          </a:ln>
        </p:spPr>
      </p:sp>
      <p:sp>
        <p:nvSpPr>
          <p:cNvPr id="1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Explain the trade-off you accepted. The live dependency buys always-current data at the cost of reproducibility, and the refactor traded a little readability for real savings in network work.</a:t>
            </a:r>
            <a:endParaRPr lang="en-US" sz="2000" b="0" u="none" strike="noStrike">
              <a:solidFill>
                <a:srgbClr val="000000"/>
              </a:solidFill>
              <a:effectLst/>
              <a:uFillTx/>
              <a:latin typeface="Arial"/>
            </a:endParaRPr>
          </a:p>
        </p:txBody>
      </p:sp>
      <p:sp>
        <p:nvSpPr>
          <p:cNvPr id="105"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482593-A5CE-4E4C-9C25-00325D5EAC9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1143000" y="685800"/>
            <a:ext cx="4571640" cy="3428640"/>
          </a:xfrm>
          <a:prstGeom prst="rect">
            <a:avLst/>
          </a:prstGeom>
          <a:ln w="0">
            <a:noFill/>
          </a:ln>
        </p:spPr>
      </p:sp>
      <p:sp>
        <p:nvSpPr>
          <p:cNvPr id="1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with the two lessons you will actually apply. Keep it under 30 seconds and end on the takeaway, not on a summary of the project.</a:t>
            </a:r>
            <a:endParaRPr lang="en-US" sz="2000" b="0" u="none" strike="noStrike">
              <a:solidFill>
                <a:srgbClr val="000000"/>
              </a:solidFill>
              <a:effectLst/>
              <a:uFillTx/>
              <a:latin typeface="Arial"/>
            </a:endParaRPr>
          </a:p>
        </p:txBody>
      </p:sp>
      <p:sp>
        <p:nvSpPr>
          <p:cNvPr id="108"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00F92A-11D8-43CF-A82E-6AEF484A2EA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939D74-A9AF-49E5-BD12-D374ABCEB32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51CAF4B-8A15-4F97-878E-C899643C1E6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ast</a:t>
            </a:r>
            <a:r>
              <a:rPr lang="en-US" sz="4400" b="0" u="none" strike="noStrike">
                <a:solidFill>
                  <a:schemeClr val="dk1"/>
                </a:solidFill>
                <a:effectLst/>
                <a:uFillTx/>
                <a:latin typeface="Calibri"/>
              </a:rPr>
              <a:t>er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sty</a:t>
            </a:r>
            <a:r>
              <a:rPr lang="en-US" sz="4400" b="0" u="none" strike="noStrike">
                <a:solidFill>
                  <a:schemeClr val="dk1"/>
                </a:solidFill>
                <a:effectLst/>
                <a:uFillTx/>
                <a:latin typeface="Calibri"/>
              </a:rPr>
              <a:t>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F1FB28C-9D84-4185-9FAF-61662AE8FA3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5D968AB-2C46-4C22-8E18-1FBE3847118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2C5B36C-8362-4B7D-BE36-19C274FBB50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FE1858-E073-4247-8E92-5BB405CF2A1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F8A63BA-DFD6-4B26-9970-D96B922A68A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B3E5B68-7086-4CF5-9348-D934A231603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1892FC0-89D6-4B05-9B7D-38E2A75E44E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406249B-46B5-47AF-B9E1-7F4AFB0645C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5E09060-3C48-4572-BB14-7FDE473E295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255600"/>
          </a:xfrm>
          <a:prstGeom prst="rect">
            <a:avLst/>
          </a:prstGeom>
          <a:solidFill>
            <a:srgbClr val="2E6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TextBox 2"/>
          <p:cNvSpPr/>
          <p:nvPr/>
        </p:nvSpPr>
        <p:spPr>
          <a:xfrm>
            <a:off x="777240" y="1737360"/>
            <a:ext cx="1060668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800" b="1" u="none" strike="noStrike">
                <a:solidFill>
                  <a:srgbClr val="1B2A41"/>
                </a:solidFill>
                <a:effectLst/>
                <a:uFillTx/>
                <a:latin typeface="Calibri"/>
              </a:rPr>
              <a:t>Image Fetch</a:t>
            </a:r>
            <a:endParaRPr lang="en-US" sz="4800" b="0" u="none" strike="noStrike">
              <a:solidFill>
                <a:srgbClr val="000000"/>
              </a:solidFill>
              <a:effectLst/>
              <a:uFillTx/>
              <a:latin typeface="Arial"/>
            </a:endParaRPr>
          </a:p>
        </p:txBody>
      </p:sp>
      <p:sp>
        <p:nvSpPr>
          <p:cNvPr id="69" name="TextBox 3"/>
          <p:cNvSpPr/>
          <p:nvPr/>
        </p:nvSpPr>
        <p:spPr>
          <a:xfrm>
            <a:off x="777240" y="2926080"/>
            <a:ext cx="10606680" cy="181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2200" b="1" u="none" strike="noStrike">
                <a:solidFill>
                  <a:srgbClr val="2E6DA4"/>
                </a:solidFill>
                <a:effectLst/>
                <a:uFillTx/>
                <a:latin typeface="Calibri"/>
              </a:rPr>
              <a:t>Benjamin Johnston</a:t>
            </a:r>
            <a:endParaRPr lang="en-US" sz="2200" b="0" u="none" strike="noStrike">
              <a:solidFill>
                <a:srgbClr val="000000"/>
              </a:solidFill>
              <a:effectLst/>
              <a:uFillTx/>
              <a:latin typeface="Arial"/>
            </a:endParaRPr>
          </a:p>
          <a:p>
            <a:pPr defTabSz="457200">
              <a:lnSpc>
                <a:spcPct val="100000"/>
              </a:lnSpc>
              <a:spcAft>
                <a:spcPts val="1001"/>
              </a:spcAft>
            </a:pPr>
            <a:r>
              <a:rPr lang="en-US" sz="1800" b="0" u="none" strike="noStrike">
                <a:solidFill>
                  <a:srgbClr val="6B6B6B"/>
                </a:solidFill>
                <a:effectLst/>
                <a:uFillTx/>
                <a:latin typeface="Calibri"/>
              </a:rPr>
              <a:t>Python Crash Course - Chapters 1-7 Final Project</a:t>
            </a:r>
            <a:endParaRPr lang="en-US" sz="1800" b="0" u="none" strike="noStrike">
              <a:solidFill>
                <a:srgbClr val="000000"/>
              </a:solidFill>
              <a:effectLst/>
              <a:uFillTx/>
              <a:latin typeface="Arial"/>
            </a:endParaRPr>
          </a:p>
          <a:p>
            <a:pPr defTabSz="457200">
              <a:lnSpc>
                <a:spcPct val="100000"/>
              </a:lnSpc>
              <a:spcAft>
                <a:spcPts val="1001"/>
              </a:spcAft>
            </a:pPr>
            <a:endParaRPr lang="en-US" sz="1000" b="0" u="none" strike="noStrike">
              <a:solidFill>
                <a:srgbClr val="000000"/>
              </a:solidFill>
              <a:effectLst/>
              <a:uFillTx/>
              <a:latin typeface="Arial"/>
            </a:endParaRPr>
          </a:p>
          <a:p>
            <a:pPr defTabSz="457200">
              <a:lnSpc>
                <a:spcPct val="100000"/>
              </a:lnSpc>
              <a:spcAft>
                <a:spcPts val="1001"/>
              </a:spcAft>
            </a:pPr>
            <a:r>
              <a:rPr lang="en-US" sz="1900" b="0" u="none" strike="noStrike">
                <a:solidFill>
                  <a:srgbClr val="2B2B2B"/>
                </a:solidFill>
                <a:effectLst/>
                <a:uFillTx/>
                <a:latin typeface="Calibri"/>
              </a:rPr>
              <a:t>Fetches the Conflict of Nations widgets stylesheet, parses its unit sprite rules, downloads the referenced sprite sheets, and crops each selected unit sprite into its own PNG.</a:t>
            </a:r>
            <a:endParaRPr lang="en-US" sz="1900" b="0" u="none" strike="noStrike">
              <a:solidFill>
                <a:srgbClr val="000000"/>
              </a:solidFill>
              <a:effectLst/>
              <a:uFillTx/>
              <a:latin typeface="Arial"/>
            </a:endParaRPr>
          </a:p>
        </p:txBody>
      </p:sp>
      <p:sp>
        <p:nvSpPr>
          <p:cNvPr id="70" name="TextBox 4"/>
          <p:cNvSpPr/>
          <p:nvPr/>
        </p:nvSpPr>
        <p:spPr>
          <a:xfrm>
            <a:off x="777240" y="6263640"/>
            <a:ext cx="1060668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6B6B6B"/>
                </a:solidFill>
                <a:effectLst/>
                <a:uFillTx/>
                <a:latin typeface="Calibri"/>
              </a:rPr>
              <a:t>Image Fetch – Benjamin Johnston</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Rectangle 1"/>
          <p:cNvSpPr/>
          <p:nvPr/>
        </p:nvSpPr>
        <p:spPr>
          <a:xfrm>
            <a:off x="0" y="0"/>
            <a:ext cx="12191400" cy="255600"/>
          </a:xfrm>
          <a:prstGeom prst="rect">
            <a:avLst/>
          </a:prstGeom>
          <a:solidFill>
            <a:srgbClr val="2E6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 name="TextBox 2"/>
          <p:cNvSpPr/>
          <p:nvPr/>
        </p:nvSpPr>
        <p:spPr>
          <a:xfrm>
            <a:off x="777240" y="594360"/>
            <a:ext cx="1060668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1B2A41"/>
                </a:solidFill>
                <a:effectLst/>
                <a:uFillTx/>
                <a:latin typeface="Calibri"/>
              </a:rPr>
              <a:t>Live Demo</a:t>
            </a:r>
            <a:endParaRPr lang="en-US" sz="3400" b="0" u="none" strike="noStrike">
              <a:solidFill>
                <a:srgbClr val="000000"/>
              </a:solidFill>
              <a:effectLst/>
              <a:uFillTx/>
              <a:latin typeface="Arial"/>
            </a:endParaRPr>
          </a:p>
        </p:txBody>
      </p:sp>
      <p:sp>
        <p:nvSpPr>
          <p:cNvPr id="73" name="TextBox 3"/>
          <p:cNvSpPr/>
          <p:nvPr/>
        </p:nvSpPr>
        <p:spPr>
          <a:xfrm>
            <a:off x="777240" y="1691640"/>
            <a:ext cx="10606680" cy="4571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2000" b="1" u="none" strike="noStrike">
                <a:solidFill>
                  <a:srgbClr val="2B2B2B"/>
                </a:solidFill>
                <a:effectLst/>
                <a:uFillTx/>
                <a:latin typeface="Calibri"/>
              </a:rPr>
              <a:t>python3 parse_unit_sprites.py --list</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Lists the unit families that can be fetched, then exits.</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python3 parse_unit_sprites.py infantry tank</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Fetches only the requested families.</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python3 parse_unit_sprites.py -g a b -d 1</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Restricts the fetch to generations a and b of doctrine 1.</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Output: output/units/&lt;family&gt;/&lt;name&gt;.png</a:t>
            </a:r>
            <a:endParaRPr lang="en-US" sz="20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Competency cues to point out on screen</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dict of families and list of sprite entries (Ch. 3, 6); for loops (Ch. 4); if/continue control flow (Ch. 5); strings and integers (Ch. 2)</a:t>
            </a:r>
            <a:endParaRPr lang="en-US" sz="1600" b="0" u="none" strike="noStrike">
              <a:solidFill>
                <a:srgbClr val="000000"/>
              </a:solidFill>
              <a:effectLst/>
              <a:uFillTx/>
              <a:latin typeface="Arial"/>
            </a:endParaRPr>
          </a:p>
        </p:txBody>
      </p:sp>
      <p:sp>
        <p:nvSpPr>
          <p:cNvPr id="74" name="TextBox 4"/>
          <p:cNvSpPr/>
          <p:nvPr/>
        </p:nvSpPr>
        <p:spPr>
          <a:xfrm>
            <a:off x="777240" y="6263640"/>
            <a:ext cx="10606680" cy="365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6B6B6B"/>
                </a:solidFill>
                <a:effectLst/>
                <a:uFillTx/>
                <a:latin typeface="Calibri"/>
              </a:rPr>
              <a:t>Part 1 - Live Demo</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1"/>
          <p:cNvSpPr/>
          <p:nvPr/>
        </p:nvSpPr>
        <p:spPr>
          <a:xfrm>
            <a:off x="0" y="0"/>
            <a:ext cx="12191400" cy="255600"/>
          </a:xfrm>
          <a:prstGeom prst="rect">
            <a:avLst/>
          </a:prstGeom>
          <a:solidFill>
            <a:srgbClr val="2E6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 name="TextBox 2"/>
          <p:cNvSpPr/>
          <p:nvPr/>
        </p:nvSpPr>
        <p:spPr>
          <a:xfrm>
            <a:off x="777240" y="594360"/>
            <a:ext cx="1060668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1B2A41"/>
                </a:solidFill>
                <a:effectLst/>
                <a:uFillTx/>
                <a:latin typeface="Calibri"/>
              </a:rPr>
              <a:t>What Went Right</a:t>
            </a:r>
            <a:endParaRPr lang="en-US" sz="3400" b="0" u="none" strike="noStrike">
              <a:solidFill>
                <a:srgbClr val="000000"/>
              </a:solidFill>
              <a:effectLst/>
              <a:uFillTx/>
              <a:latin typeface="Arial"/>
            </a:endParaRPr>
          </a:p>
        </p:txBody>
      </p:sp>
      <p:sp>
        <p:nvSpPr>
          <p:cNvPr id="77" name="TextBox 3"/>
          <p:cNvSpPr/>
          <p:nvPr/>
        </p:nvSpPr>
        <p:spPr>
          <a:xfrm>
            <a:off x="777240" y="1691640"/>
            <a:ext cx="10606680" cy="4571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2000" b="1" u="none" strike="noStrike">
                <a:solidFill>
                  <a:srgbClr val="2B2B2B"/>
                </a:solidFill>
                <a:effectLst/>
                <a:uFillTx/>
                <a:latin typeface="Calibri"/>
              </a:rPr>
              <a:t>Sprite sheet URLs are discovered from the stylesheet</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Nothing is hardcoded, so a newly added doctrine is picked up automatically the next time the tool runs.</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Filtering happens inside the parse loop</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Rules that do not match the request are skipped as the stylesheet is scanned, so unselected sprite sheets are never downloaded. Fewer network calls, faster runs.</a:t>
            </a:r>
            <a:endParaRPr lang="en-US" sz="1600" b="0" u="none" strike="noStrike">
              <a:solidFill>
                <a:srgbClr val="000000"/>
              </a:solidFill>
              <a:effectLst/>
              <a:uFillTx/>
              <a:latin typeface="Arial"/>
            </a:endParaRPr>
          </a:p>
        </p:txBody>
      </p:sp>
      <p:sp>
        <p:nvSpPr>
          <p:cNvPr id="78" name="TextBox 4"/>
          <p:cNvSpPr/>
          <p:nvPr/>
        </p:nvSpPr>
        <p:spPr>
          <a:xfrm>
            <a:off x="777240" y="6263640"/>
            <a:ext cx="10606680" cy="365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6B6B6B"/>
                </a:solidFill>
                <a:effectLst/>
                <a:uFillTx/>
                <a:latin typeface="Calibri"/>
              </a:rPr>
              <a:t>Part 2 - Analysis</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Rectangle 1"/>
          <p:cNvSpPr/>
          <p:nvPr/>
        </p:nvSpPr>
        <p:spPr>
          <a:xfrm>
            <a:off x="0" y="0"/>
            <a:ext cx="12191400" cy="255600"/>
          </a:xfrm>
          <a:prstGeom prst="rect">
            <a:avLst/>
          </a:prstGeom>
          <a:solidFill>
            <a:srgbClr val="2E6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2"/>
          <p:cNvSpPr/>
          <p:nvPr/>
        </p:nvSpPr>
        <p:spPr>
          <a:xfrm>
            <a:off x="777240" y="594360"/>
            <a:ext cx="1060668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1B2A41"/>
                </a:solidFill>
                <a:effectLst/>
                <a:uFillTx/>
                <a:latin typeface="Calibri"/>
              </a:rPr>
              <a:t>What Needs Improvement</a:t>
            </a:r>
            <a:endParaRPr lang="en-US" sz="3400" b="0" u="none" strike="noStrike">
              <a:solidFill>
                <a:srgbClr val="000000"/>
              </a:solidFill>
              <a:effectLst/>
              <a:uFillTx/>
              <a:latin typeface="Arial"/>
            </a:endParaRPr>
          </a:p>
        </p:txBody>
      </p:sp>
      <p:sp>
        <p:nvSpPr>
          <p:cNvPr id="81" name="TextBox 3"/>
          <p:cNvSpPr/>
          <p:nvPr/>
        </p:nvSpPr>
        <p:spPr>
          <a:xfrm>
            <a:off x="777240" y="1691640"/>
            <a:ext cx="10606680" cy="4571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2000" b="1" u="none" strike="noStrike">
                <a:solidFill>
                  <a:srgbClr val="2B2B2B"/>
                </a:solidFill>
                <a:effectLst/>
                <a:uFillTx/>
                <a:latin typeface="Calibri"/>
              </a:rPr>
              <a:t>Commit cadence</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Development clustered into a few long sessions instead of steady increments, which makes the history harder to follow.</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The CSS variant field is inconsistent</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Values such as air appear unpredictably, so the variant is folded into the family name. It is pragmatic, but it is a lossy simplification.</a:t>
            </a:r>
            <a:endParaRPr lang="en-US" sz="1600" b="0" u="none" strike="noStrike">
              <a:solidFill>
                <a:srgbClr val="000000"/>
              </a:solidFill>
              <a:effectLst/>
              <a:uFillTx/>
              <a:latin typeface="Arial"/>
            </a:endParaRPr>
          </a:p>
        </p:txBody>
      </p:sp>
      <p:sp>
        <p:nvSpPr>
          <p:cNvPr id="82" name="TextBox 4"/>
          <p:cNvSpPr/>
          <p:nvPr/>
        </p:nvSpPr>
        <p:spPr>
          <a:xfrm>
            <a:off x="777240" y="6263640"/>
            <a:ext cx="10606680" cy="365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6B6B6B"/>
                </a:solidFill>
                <a:effectLst/>
                <a:uFillTx/>
                <a:latin typeface="Calibri"/>
              </a:rPr>
              <a:t>Part 2 - Analysis</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Rectangle 1"/>
          <p:cNvSpPr/>
          <p:nvPr/>
        </p:nvSpPr>
        <p:spPr>
          <a:xfrm>
            <a:off x="0" y="0"/>
            <a:ext cx="12191400" cy="255600"/>
          </a:xfrm>
          <a:prstGeom prst="rect">
            <a:avLst/>
          </a:prstGeom>
          <a:solidFill>
            <a:srgbClr val="2E6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TextBox 2"/>
          <p:cNvSpPr/>
          <p:nvPr/>
        </p:nvSpPr>
        <p:spPr>
          <a:xfrm>
            <a:off x="777240" y="594360"/>
            <a:ext cx="1060668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1B2A41"/>
                </a:solidFill>
                <a:effectLst/>
                <a:uFillTx/>
                <a:latin typeface="Calibri"/>
              </a:rPr>
              <a:t>Risk &amp; Change Management</a:t>
            </a:r>
            <a:endParaRPr lang="en-US" sz="3400" b="0" u="none" strike="noStrike">
              <a:solidFill>
                <a:srgbClr val="000000"/>
              </a:solidFill>
              <a:effectLst/>
              <a:uFillTx/>
              <a:latin typeface="Arial"/>
            </a:endParaRPr>
          </a:p>
        </p:txBody>
      </p:sp>
      <p:sp>
        <p:nvSpPr>
          <p:cNvPr id="85" name="TextBox 3"/>
          <p:cNvSpPr/>
          <p:nvPr/>
        </p:nvSpPr>
        <p:spPr>
          <a:xfrm>
            <a:off x="777240" y="1691640"/>
            <a:ext cx="10606680" cy="4571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2000" b="1" u="none" strike="noStrike">
                <a:solidFill>
                  <a:srgbClr val="2B2B2B"/>
                </a:solidFill>
                <a:effectLst/>
                <a:uFillTx/>
                <a:latin typeface="Calibri"/>
              </a:rPr>
              <a:t>Risk: dependence on a live upstream source</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The tool reads the game's published stylesheet and images at run time. An upstream change can silently produce wrong crops, and without an offline fixture those failures are not reproducible.</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Change: moving the filter into the parse loop</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Family filtering started as a pass over the fully parsed result, then was refactored into the scan itself so unselected sprites are never collected or downloaded.</a:t>
            </a:r>
            <a:endParaRPr lang="en-US" sz="1600" b="0" u="none" strike="noStrike">
              <a:solidFill>
                <a:srgbClr val="000000"/>
              </a:solidFill>
              <a:effectLst/>
              <a:uFillTx/>
              <a:latin typeface="Arial"/>
            </a:endParaRPr>
          </a:p>
        </p:txBody>
      </p:sp>
      <p:sp>
        <p:nvSpPr>
          <p:cNvPr id="86" name="TextBox 4"/>
          <p:cNvSpPr/>
          <p:nvPr/>
        </p:nvSpPr>
        <p:spPr>
          <a:xfrm>
            <a:off x="777240" y="6263640"/>
            <a:ext cx="10606680" cy="365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6B6B6B"/>
                </a:solidFill>
                <a:effectLst/>
                <a:uFillTx/>
                <a:latin typeface="Calibri"/>
              </a:rPr>
              <a:t>Part 2 - Analysis</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Rectangle 1"/>
          <p:cNvSpPr/>
          <p:nvPr/>
        </p:nvSpPr>
        <p:spPr>
          <a:xfrm>
            <a:off x="0" y="0"/>
            <a:ext cx="12191400" cy="255600"/>
          </a:xfrm>
          <a:prstGeom prst="rect">
            <a:avLst/>
          </a:prstGeom>
          <a:solidFill>
            <a:srgbClr val="2E6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 name="TextBox 2"/>
          <p:cNvSpPr/>
          <p:nvPr/>
        </p:nvSpPr>
        <p:spPr>
          <a:xfrm>
            <a:off x="777240" y="594360"/>
            <a:ext cx="1060668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1B2A41"/>
                </a:solidFill>
                <a:effectLst/>
                <a:uFillTx/>
                <a:latin typeface="Calibri"/>
              </a:rPr>
              <a:t>Actionable Advice</a:t>
            </a:r>
            <a:endParaRPr lang="en-US" sz="3400" b="0" u="none" strike="noStrike">
              <a:solidFill>
                <a:srgbClr val="000000"/>
              </a:solidFill>
              <a:effectLst/>
              <a:uFillTx/>
              <a:latin typeface="Arial"/>
            </a:endParaRPr>
          </a:p>
        </p:txBody>
      </p:sp>
      <p:sp>
        <p:nvSpPr>
          <p:cNvPr id="89" name="TextBox 3"/>
          <p:cNvSpPr/>
          <p:nvPr/>
        </p:nvSpPr>
        <p:spPr>
          <a:xfrm>
            <a:off x="777240" y="1691640"/>
            <a:ext cx="10606680" cy="4571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2000" b="1" u="none" strike="noStrike">
                <a:solidFill>
                  <a:srgbClr val="2B2B2B"/>
                </a:solidFill>
                <a:effectLst/>
                <a:uFillTx/>
                <a:latin typeface="Calibri"/>
              </a:rPr>
              <a:t>Validate parsing against a stable local fixture before trusting a live source</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A saved copy of the input makes failures reproducible and turns a network problem into a code problem.</a:t>
            </a:r>
            <a:endParaRPr lang="en-US" sz="1600" b="0" u="none" strike="noStrike">
              <a:solidFill>
                <a:srgbClr val="000000"/>
              </a:solidFill>
              <a:effectLst/>
              <a:uFillTx/>
              <a:latin typeface="Arial"/>
            </a:endParaRPr>
          </a:p>
          <a:p>
            <a:pPr defTabSz="457200">
              <a:lnSpc>
                <a:spcPct val="100000"/>
              </a:lnSpc>
              <a:spcAft>
                <a:spcPts val="1199"/>
              </a:spcAft>
            </a:pPr>
            <a:r>
              <a:rPr lang="en-US" sz="2000" b="1" u="none" strike="noStrike">
                <a:solidFill>
                  <a:srgbClr val="2B2B2B"/>
                </a:solidFill>
                <a:effectLst/>
                <a:uFillTx/>
                <a:latin typeface="Calibri"/>
              </a:rPr>
              <a:t>Commit as the work happens</a:t>
            </a:r>
            <a:endParaRPr lang="en-US" sz="2000" b="0" u="none" strike="noStrike">
              <a:solidFill>
                <a:srgbClr val="000000"/>
              </a:solidFill>
              <a:effectLst/>
              <a:uFillTx/>
              <a:latin typeface="Arial"/>
            </a:endParaRPr>
          </a:p>
          <a:p>
            <a:pPr marL="457200" defTabSz="457200">
              <a:lnSpc>
                <a:spcPct val="100000"/>
              </a:lnSpc>
              <a:spcAft>
                <a:spcPts val="601"/>
              </a:spcAft>
            </a:pPr>
            <a:r>
              <a:rPr lang="en-US" sz="1600" b="0" u="none" strike="noStrike">
                <a:solidFill>
                  <a:srgbClr val="6B6B6B"/>
                </a:solidFill>
                <a:effectLst/>
                <a:uFillTx/>
                <a:latin typeface="Calibri"/>
              </a:rPr>
              <a:t>History value tracks regularity, not total size. Small, frequent commits document the reasoning that large ones erase.</a:t>
            </a:r>
            <a:endParaRPr lang="en-US" sz="1600" b="0" u="none" strike="noStrike">
              <a:solidFill>
                <a:srgbClr val="000000"/>
              </a:solidFill>
              <a:effectLst/>
              <a:uFillTx/>
              <a:latin typeface="Arial"/>
            </a:endParaRPr>
          </a:p>
        </p:txBody>
      </p:sp>
      <p:sp>
        <p:nvSpPr>
          <p:cNvPr id="90" name="TextBox 4"/>
          <p:cNvSpPr/>
          <p:nvPr/>
        </p:nvSpPr>
        <p:spPr>
          <a:xfrm>
            <a:off x="777240" y="6263640"/>
            <a:ext cx="10606680" cy="365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6B6B6B"/>
                </a:solidFill>
                <a:effectLst/>
                <a:uFillTx/>
                <a:latin typeface="Calibri"/>
              </a:rPr>
              <a:t>Part 2 - Analysis</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2026-09-27T23:12:48Z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